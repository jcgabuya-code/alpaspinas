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of the six core AlpasPinas processes, split between member-facing and admin-facing flows.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 slide. Three member journeys on the left, three admin journeys on the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Registration is invite-gated: apply, get approved, receive a tokenized link, set password + boat profile. Emergency contact is optional.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Training sign-up: authenticated members book seats. Land vs lake sessions differ. Overflow goes to a waitlist.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Merch is reserve-only: no online payment. Browse -&gt; size/qty -&gt; cart details (pickup/delivery) -&gt; order recorded + email; team arranges payment manually.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Admins track sessions with live capacity, filter by venue, expand rosters, and approve/cancel sign-ups.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Boat planner: assign seats via drag/drop, live trim &amp; balance, auto-seat and crew presets, share/print the final line-up.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Merch management has two parts: Shop Products (catalogue, pricing, featured item, stock) and Shop Orders (status flow Reserved-&gt;Paid-&gt;Fulfilled, auto-archive).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Closing. The portal ties member journeys and admin operations into one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6675120" cy="6858000"/>
          </a:xfrm>
          <a:prstGeom prst="rect">
            <a:avLst/>
          </a:prstGeom>
          <a:solidFill>
            <a:srgbClr val="0A0E1A"/>
          </a:solidFill>
        </p:spPr>
      </p:sp>
      <p:sp>
        <p:nvSpPr>
          <p:cNvPr id="4" name="Shape 1"/>
          <p:cNvSpPr/>
          <p:nvPr/>
        </p:nvSpPr>
        <p:spPr>
          <a:xfrm>
            <a:off x="6675120" y="0"/>
            <a:ext cx="822960" cy="6858000"/>
          </a:xfrm>
          <a:prstGeom prst="rect">
            <a:avLst/>
          </a:prstGeom>
          <a:solidFill>
            <a:srgbClr val="0A0E1A">
              <a:alpha val="65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777240" y="12344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6C9B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ALPASPINAS · DRAGON BOAT TEAM · MALAYSIA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31520" y="1600200"/>
            <a:ext cx="6035040" cy="2011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Onboarding Process / Website Demo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777240" y="3611880"/>
            <a:ext cx="53949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walkthrough of the six core journeys — three for members, three for the team admins.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77240" y="4709160"/>
            <a:ext cx="844906" cy="310896"/>
          </a:xfrm>
          <a:prstGeom prst="roundRect">
            <a:avLst>
              <a:gd name="adj" fmla="val 50000"/>
            </a:avLst>
          </a:prstGeom>
          <a:solidFill>
            <a:srgbClr val="2F5FFF"/>
          </a:solidFill>
        </p:spPr>
      </p:sp>
      <p:sp>
        <p:nvSpPr>
          <p:cNvPr id="9" name="Text 6"/>
          <p:cNvSpPr/>
          <p:nvPr/>
        </p:nvSpPr>
        <p:spPr>
          <a:xfrm>
            <a:off x="777240" y="4709160"/>
            <a:ext cx="84490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MEMBERS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965960" y="4709160"/>
            <a:ext cx="676656" cy="310896"/>
          </a:xfrm>
          <a:prstGeom prst="roundRect">
            <a:avLst>
              <a:gd name="adj" fmla="val 50000"/>
            </a:avLst>
          </a:prstGeom>
          <a:solidFill>
            <a:srgbClr val="FCD116"/>
          </a:solidFill>
        </p:spPr>
      </p:sp>
      <p:sp>
        <p:nvSpPr>
          <p:cNvPr id="11" name="Text 8"/>
          <p:cNvSpPr/>
          <p:nvPr/>
        </p:nvSpPr>
        <p:spPr>
          <a:xfrm>
            <a:off x="1965960" y="4709160"/>
            <a:ext cx="67665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1B2E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ADMIN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77240" y="516636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· Training sign-ups · Merch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77240" y="544068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Sign-up tracking · Boat assignments · Merch management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F5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THE SIX JOURNEYS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0972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1B2E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What we'll walk through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120640" cy="466344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9AA7C7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874520"/>
            <a:ext cx="844906" cy="310896"/>
          </a:xfrm>
          <a:prstGeom prst="roundRect">
            <a:avLst>
              <a:gd name="adj" fmla="val 50000"/>
            </a:avLst>
          </a:prstGeom>
          <a:solidFill>
            <a:srgbClr val="2F5FFF"/>
          </a:solidFill>
        </p:spPr>
      </p:sp>
      <p:sp>
        <p:nvSpPr>
          <p:cNvPr id="6" name="Text 4"/>
          <p:cNvSpPr/>
          <p:nvPr/>
        </p:nvSpPr>
        <p:spPr>
          <a:xfrm>
            <a:off x="960120" y="1874520"/>
            <a:ext cx="84490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MEMBERS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0120" y="2286000"/>
            <a:ext cx="4572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B2E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For Members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2743200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paddlers do on the site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60120" y="3337560"/>
            <a:ext cx="402336" cy="402336"/>
          </a:xfrm>
          <a:prstGeom prst="ellipse">
            <a:avLst/>
          </a:prstGeom>
          <a:solidFill>
            <a:srgbClr val="2F5FFF"/>
          </a:solidFill>
        </p:spPr>
      </p:sp>
      <p:sp>
        <p:nvSpPr>
          <p:cNvPr id="10" name="Text 8"/>
          <p:cNvSpPr/>
          <p:nvPr/>
        </p:nvSpPr>
        <p:spPr>
          <a:xfrm>
            <a:off x="960120" y="333756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54480" y="3310128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B2E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Onboarding &amp; registration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60120" y="4251960"/>
            <a:ext cx="402336" cy="402336"/>
          </a:xfrm>
          <a:prstGeom prst="ellipse">
            <a:avLst/>
          </a:prstGeom>
          <a:solidFill>
            <a:srgbClr val="2F5FFF"/>
          </a:solidFill>
        </p:spPr>
      </p:sp>
      <p:sp>
        <p:nvSpPr>
          <p:cNvPr id="13" name="Text 11"/>
          <p:cNvSpPr/>
          <p:nvPr/>
        </p:nvSpPr>
        <p:spPr>
          <a:xfrm>
            <a:off x="960120" y="425196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54480" y="4224528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B2E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Training sign-ups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60120" y="5166360"/>
            <a:ext cx="402336" cy="402336"/>
          </a:xfrm>
          <a:prstGeom prst="ellipse">
            <a:avLst/>
          </a:prstGeom>
          <a:solidFill>
            <a:srgbClr val="2F5FFF"/>
          </a:solidFill>
        </p:spPr>
      </p:sp>
      <p:sp>
        <p:nvSpPr>
          <p:cNvPr id="16" name="Text 14"/>
          <p:cNvSpPr/>
          <p:nvPr/>
        </p:nvSpPr>
        <p:spPr>
          <a:xfrm>
            <a:off x="960120" y="516636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54480" y="5138928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B2E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Merchandise purchase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0" y="1600200"/>
            <a:ext cx="5120640" cy="466344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9AA7C7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20840" y="1874520"/>
            <a:ext cx="676656" cy="310896"/>
          </a:xfrm>
          <a:prstGeom prst="roundRect">
            <a:avLst>
              <a:gd name="adj" fmla="val 50000"/>
            </a:avLst>
          </a:prstGeom>
          <a:solidFill>
            <a:srgbClr val="CE1126"/>
          </a:solidFill>
        </p:spPr>
      </p:sp>
      <p:sp>
        <p:nvSpPr>
          <p:cNvPr id="20" name="Text 18"/>
          <p:cNvSpPr/>
          <p:nvPr/>
        </p:nvSpPr>
        <p:spPr>
          <a:xfrm>
            <a:off x="6720840" y="1874520"/>
            <a:ext cx="67665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ADMIN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720840" y="2286000"/>
            <a:ext cx="4572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B2E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For Admins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720840" y="2743200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team runs it behind the scenes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720840" y="3337560"/>
            <a:ext cx="402336" cy="402336"/>
          </a:xfrm>
          <a:prstGeom prst="ellipse">
            <a:avLst/>
          </a:prstGeom>
          <a:solidFill>
            <a:srgbClr val="CE1126"/>
          </a:solidFill>
        </p:spPr>
      </p:sp>
      <p:sp>
        <p:nvSpPr>
          <p:cNvPr id="24" name="Text 22"/>
          <p:cNvSpPr/>
          <p:nvPr/>
        </p:nvSpPr>
        <p:spPr>
          <a:xfrm>
            <a:off x="6720840" y="333756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1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15200" y="3310128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B2E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Training sign-up tracking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720840" y="4251960"/>
            <a:ext cx="402336" cy="402336"/>
          </a:xfrm>
          <a:prstGeom prst="ellipse">
            <a:avLst/>
          </a:prstGeom>
          <a:solidFill>
            <a:srgbClr val="CE1126"/>
          </a:solidFill>
        </p:spPr>
      </p:sp>
      <p:sp>
        <p:nvSpPr>
          <p:cNvPr id="27" name="Text 25"/>
          <p:cNvSpPr/>
          <p:nvPr/>
        </p:nvSpPr>
        <p:spPr>
          <a:xfrm>
            <a:off x="6720840" y="425196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2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315200" y="4224528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B2E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Boat assignments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720840" y="5166360"/>
            <a:ext cx="402336" cy="402336"/>
          </a:xfrm>
          <a:prstGeom prst="ellipse">
            <a:avLst/>
          </a:prstGeom>
          <a:solidFill>
            <a:srgbClr val="CE1126"/>
          </a:solidFill>
        </p:spPr>
      </p:sp>
      <p:sp>
        <p:nvSpPr>
          <p:cNvPr id="30" name="Text 28"/>
          <p:cNvSpPr/>
          <p:nvPr/>
        </p:nvSpPr>
        <p:spPr>
          <a:xfrm>
            <a:off x="6720840" y="516636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3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315200" y="5138928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B2E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Merchandise management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766560" y="0"/>
            <a:ext cx="1097280" cy="6858000"/>
          </a:xfrm>
          <a:prstGeom prst="rect">
            <a:avLst/>
          </a:prstGeom>
          <a:solidFill>
            <a:srgbClr val="0A0E1A">
              <a:alpha val="70000"/>
            </a:srgbClr>
          </a:solidFill>
        </p:spPr>
      </p:sp>
      <p:sp>
        <p:nvSpPr>
          <p:cNvPr id="4" name="Shape 1"/>
          <p:cNvSpPr/>
          <p:nvPr/>
        </p:nvSpPr>
        <p:spPr>
          <a:xfrm>
            <a:off x="0" y="0"/>
            <a:ext cx="6766560" cy="6858000"/>
          </a:xfrm>
          <a:prstGeom prst="rect">
            <a:avLst/>
          </a:prstGeom>
          <a:solidFill>
            <a:srgbClr val="0A0E1A"/>
          </a:solidFill>
        </p:spPr>
      </p:sp>
      <p:sp>
        <p:nvSpPr>
          <p:cNvPr id="5" name="Text 2"/>
          <p:cNvSpPr/>
          <p:nvPr/>
        </p:nvSpPr>
        <p:spPr>
          <a:xfrm>
            <a:off x="777240" y="1371600"/>
            <a:ext cx="274320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2F5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01</a:t>
            </a:r>
            <a:endParaRPr lang="en-US" sz="9000" dirty="0"/>
          </a:p>
        </p:txBody>
      </p:sp>
      <p:sp>
        <p:nvSpPr>
          <p:cNvPr id="6" name="Text 3"/>
          <p:cNvSpPr/>
          <p:nvPr/>
        </p:nvSpPr>
        <p:spPr>
          <a:xfrm>
            <a:off x="822960" y="27889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CD116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PART ONE — THE PADDLER'S SIDE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77240" y="3063240"/>
            <a:ext cx="585216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For Members</a:t>
            </a:r>
            <a:endParaRPr lang="en-US" sz="4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844906" cy="310896"/>
          </a:xfrm>
          <a:prstGeom prst="roundRect">
            <a:avLst>
              <a:gd name="adj" fmla="val 50000"/>
            </a:avLst>
          </a:prstGeom>
          <a:solidFill>
            <a:srgbClr val="2F5FFF"/>
          </a:solidFill>
        </p:spPr>
      </p:sp>
      <p:sp>
        <p:nvSpPr>
          <p:cNvPr id="3" name="Text 1"/>
          <p:cNvSpPr/>
          <p:nvPr/>
        </p:nvSpPr>
        <p:spPr>
          <a:xfrm>
            <a:off x="640080" y="457200"/>
            <a:ext cx="84490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MEMBERS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83080" y="5120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F5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PROCESS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7315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2E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Onboarding &amp; Registration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6400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"I'm curious" to a full crew account — a guided four-step path.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2F5FFF"/>
          </a:solidFill>
        </p:spPr>
      </p:sp>
      <p:sp>
        <p:nvSpPr>
          <p:cNvPr id="8" name="Text 6"/>
          <p:cNvSpPr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44168" y="1911096"/>
            <a:ext cx="51206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450" b="1" dirty="0">
                <a:solidFill>
                  <a:srgbClr val="141B2E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Apply</a:t>
            </a:r>
            <a:endParaRPr lang="en-US" sz="1450" dirty="0"/>
          </a:p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Prospective paddler drops name, email and mobile on the “Paddle with us” form.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85800" y="3044952"/>
            <a:ext cx="457200" cy="457200"/>
          </a:xfrm>
          <a:prstGeom prst="ellipse">
            <a:avLst/>
          </a:prstGeom>
          <a:solidFill>
            <a:srgbClr val="2F5FFF"/>
          </a:solidFill>
        </p:spPr>
      </p:sp>
      <p:sp>
        <p:nvSpPr>
          <p:cNvPr id="11" name="Text 9"/>
          <p:cNvSpPr/>
          <p:nvPr/>
        </p:nvSpPr>
        <p:spPr>
          <a:xfrm>
            <a:off x="685800" y="304495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44168" y="2990088"/>
            <a:ext cx="51206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450" b="1" dirty="0">
                <a:solidFill>
                  <a:srgbClr val="141B2E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Review &amp; approval</a:t>
            </a:r>
            <a:endParaRPr lang="en-US" sz="1450" dirty="0"/>
          </a:p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reviews the application; approval generates a secure registration link (valid 7 days).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85800" y="4123944"/>
            <a:ext cx="457200" cy="457200"/>
          </a:xfrm>
          <a:prstGeom prst="ellipse">
            <a:avLst/>
          </a:prstGeom>
          <a:solidFill>
            <a:srgbClr val="2F5FFF"/>
          </a:solidFill>
        </p:spPr>
      </p:sp>
      <p:sp>
        <p:nvSpPr>
          <p:cNvPr id="14" name="Text 12"/>
          <p:cNvSpPr/>
          <p:nvPr/>
        </p:nvSpPr>
        <p:spPr>
          <a:xfrm>
            <a:off x="685800" y="412394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44168" y="4069080"/>
            <a:ext cx="51206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450" b="1" dirty="0">
                <a:solidFill>
                  <a:srgbClr val="141B2E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Register</a:t>
            </a:r>
            <a:endParaRPr lang="en-US" sz="1450" dirty="0"/>
          </a:p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 opens the emailed link and sets a password, then their boat details — gender, birthday, paddling side &amp; weight.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85800" y="5202936"/>
            <a:ext cx="457200" cy="457200"/>
          </a:xfrm>
          <a:prstGeom prst="ellipse">
            <a:avLst/>
          </a:prstGeom>
          <a:solidFill>
            <a:srgbClr val="FCD116"/>
          </a:solidFill>
        </p:spPr>
      </p:sp>
      <p:sp>
        <p:nvSpPr>
          <p:cNvPr id="17" name="Text 15"/>
          <p:cNvSpPr/>
          <p:nvPr/>
        </p:nvSpPr>
        <p:spPr>
          <a:xfrm>
            <a:off x="685800" y="520293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44168" y="5148072"/>
            <a:ext cx="51206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450" b="1" dirty="0">
                <a:solidFill>
                  <a:srgbClr val="141B2E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Aboard</a:t>
            </a:r>
            <a:endParaRPr lang="en-US" sz="1450" dirty="0"/>
          </a:p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optional emergency contact, and they're welcomed in with a full member account.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464808" y="1161288"/>
            <a:ext cx="5266944" cy="3749040"/>
          </a:xfrm>
          <a:prstGeom prst="roundRect">
            <a:avLst>
              <a:gd name="adj" fmla="val 2439"/>
            </a:avLst>
          </a:prstGeom>
          <a:solidFill>
            <a:srgbClr val="121A2E"/>
          </a:solidFill>
          <a:ln w="12700">
            <a:solidFill>
              <a:srgbClr val="2F5FFF"/>
            </a:solidFill>
            <a:prstDash val="solid"/>
          </a:ln>
          <a:effectLst>
            <a:outerShdw blurRad="127000" dist="50800" dir="54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20" name="Image 0" descr="/sessions/cool-compassionate-feynman/mnt/AlpasPinas/scratchpad/deck/02-join-apply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537960" y="1234440"/>
            <a:ext cx="5120640" cy="360273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464808" y="4928616"/>
            <a:ext cx="526694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the application form with its 4-step rail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844906" cy="310896"/>
          </a:xfrm>
          <a:prstGeom prst="roundRect">
            <a:avLst>
              <a:gd name="adj" fmla="val 50000"/>
            </a:avLst>
          </a:prstGeom>
          <a:solidFill>
            <a:srgbClr val="2F5FFF"/>
          </a:solidFill>
        </p:spPr>
      </p:sp>
      <p:sp>
        <p:nvSpPr>
          <p:cNvPr id="3" name="Text 1"/>
          <p:cNvSpPr/>
          <p:nvPr/>
        </p:nvSpPr>
        <p:spPr>
          <a:xfrm>
            <a:off x="640080" y="457200"/>
            <a:ext cx="84490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MEMBERS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83080" y="5120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F5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PROCESS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7315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2E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Training Sign-ups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6400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reserve a seat for lake or land sessions in a few taps.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2F5FFF"/>
          </a:solidFill>
        </p:spPr>
      </p:sp>
      <p:sp>
        <p:nvSpPr>
          <p:cNvPr id="8" name="Text 6"/>
          <p:cNvSpPr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44168" y="1911096"/>
            <a:ext cx="51206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450" b="1" dirty="0">
                <a:solidFill>
                  <a:srgbClr val="141B2E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Sign in</a:t>
            </a:r>
            <a:endParaRPr lang="en-US" sz="1450" dirty="0"/>
          </a:p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log in with the email &amp; password created at registration.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85800" y="3044952"/>
            <a:ext cx="457200" cy="457200"/>
          </a:xfrm>
          <a:prstGeom prst="ellipse">
            <a:avLst/>
          </a:prstGeom>
          <a:solidFill>
            <a:srgbClr val="2F5FFF"/>
          </a:solidFill>
        </p:spPr>
      </p:sp>
      <p:sp>
        <p:nvSpPr>
          <p:cNvPr id="11" name="Text 9"/>
          <p:cNvSpPr/>
          <p:nvPr/>
        </p:nvSpPr>
        <p:spPr>
          <a:xfrm>
            <a:off x="685800" y="304495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44168" y="2990088"/>
            <a:ext cx="51206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450" b="1" dirty="0">
                <a:solidFill>
                  <a:srgbClr val="141B2E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Open a session</a:t>
            </a:r>
            <a:endParaRPr lang="en-US" sz="1450" dirty="0"/>
          </a:p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Training page lists upcoming sessions with live seat counts; tap one to sign up.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85800" y="4123944"/>
            <a:ext cx="457200" cy="457200"/>
          </a:xfrm>
          <a:prstGeom prst="ellipse">
            <a:avLst/>
          </a:prstGeom>
          <a:solidFill>
            <a:srgbClr val="2F5FFF"/>
          </a:solidFill>
        </p:spPr>
      </p:sp>
      <p:sp>
        <p:nvSpPr>
          <p:cNvPr id="14" name="Text 12"/>
          <p:cNvSpPr/>
          <p:nvPr/>
        </p:nvSpPr>
        <p:spPr>
          <a:xfrm>
            <a:off x="685800" y="412394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44168" y="4069080"/>
            <a:ext cx="51206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450" b="1" dirty="0">
                <a:solidFill>
                  <a:srgbClr val="141B2E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Fill the booking form</a:t>
            </a:r>
            <a:endParaRPr lang="en-US" sz="1450" dirty="0"/>
          </a:p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side/role &amp; weight prefill from the profile. Lake sessions also ask PFD/paddle needs and which day(s) — Sat, Sun or both.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85800" y="5202936"/>
            <a:ext cx="457200" cy="457200"/>
          </a:xfrm>
          <a:prstGeom prst="ellipse">
            <a:avLst/>
          </a:prstGeom>
          <a:solidFill>
            <a:srgbClr val="FCD116"/>
          </a:solidFill>
        </p:spPr>
      </p:sp>
      <p:sp>
        <p:nvSpPr>
          <p:cNvPr id="17" name="Text 15"/>
          <p:cNvSpPr/>
          <p:nvPr/>
        </p:nvSpPr>
        <p:spPr>
          <a:xfrm>
            <a:off x="685800" y="520293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44168" y="5148072"/>
            <a:ext cx="51206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450" b="1" dirty="0">
                <a:solidFill>
                  <a:srgbClr val="141B2E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Confirmed or waitlisted</a:t>
            </a:r>
            <a:endParaRPr lang="en-US" sz="1450" dirty="0"/>
          </a:p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boat has room the seat is confirmed; if full, they join the waitlist automatically.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464808" y="1344168"/>
            <a:ext cx="5266944" cy="3392424"/>
          </a:xfrm>
          <a:prstGeom prst="roundRect">
            <a:avLst>
              <a:gd name="adj" fmla="val 2695"/>
            </a:avLst>
          </a:prstGeom>
          <a:solidFill>
            <a:srgbClr val="121A2E"/>
          </a:solidFill>
          <a:ln w="12700">
            <a:solidFill>
              <a:srgbClr val="2F5FFF"/>
            </a:solidFill>
            <a:prstDash val="solid"/>
          </a:ln>
          <a:effectLst>
            <a:outerShdw blurRad="127000" dist="50800" dir="54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20" name="Image 0" descr="/sessions/cool-compassionate-feynman/mnt/AlpasPinas/scratchpad/deck/03-login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537960" y="1417320"/>
            <a:ext cx="5120640" cy="324612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464808" y="4754880"/>
            <a:ext cx="526694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sign in before booking a session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844906" cy="310896"/>
          </a:xfrm>
          <a:prstGeom prst="roundRect">
            <a:avLst>
              <a:gd name="adj" fmla="val 50000"/>
            </a:avLst>
          </a:prstGeom>
          <a:solidFill>
            <a:srgbClr val="2F5FFF"/>
          </a:solidFill>
        </p:spPr>
      </p:sp>
      <p:sp>
        <p:nvSpPr>
          <p:cNvPr id="3" name="Text 1"/>
          <p:cNvSpPr/>
          <p:nvPr/>
        </p:nvSpPr>
        <p:spPr>
          <a:xfrm>
            <a:off x="640080" y="457200"/>
            <a:ext cx="84490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MEMBERS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83080" y="5120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F5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PROCESS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7315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2E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Merchandise Purchase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6583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low-friction “reserve” flow — payment is arranged directly, not online.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2F5FFF"/>
          </a:solidFill>
        </p:spPr>
      </p:sp>
      <p:sp>
        <p:nvSpPr>
          <p:cNvPr id="8" name="Text 6"/>
          <p:cNvSpPr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44168" y="1911096"/>
            <a:ext cx="51206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450" b="1" dirty="0">
                <a:solidFill>
                  <a:srgbClr val="141B2E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Browse the shop</a:t>
            </a:r>
            <a:endParaRPr lang="en-US" sz="1450" dirty="0"/>
          </a:p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gear is shown with a featured “limited drop” up top and the full range below.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85800" y="3044952"/>
            <a:ext cx="457200" cy="457200"/>
          </a:xfrm>
          <a:prstGeom prst="ellipse">
            <a:avLst/>
          </a:prstGeom>
          <a:solidFill>
            <a:srgbClr val="2F5FFF"/>
          </a:solidFill>
        </p:spPr>
      </p:sp>
      <p:sp>
        <p:nvSpPr>
          <p:cNvPr id="11" name="Text 9"/>
          <p:cNvSpPr/>
          <p:nvPr/>
        </p:nvSpPr>
        <p:spPr>
          <a:xfrm>
            <a:off x="685800" y="304495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44168" y="2990088"/>
            <a:ext cx="51206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450" b="1" dirty="0">
                <a:solidFill>
                  <a:srgbClr val="141B2E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Pick size &amp; quantity</a:t>
            </a:r>
            <a:endParaRPr lang="en-US" sz="1450" dirty="0"/>
          </a:p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product page the visitor chooses a size and quantity, then adds to cart.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85800" y="4123944"/>
            <a:ext cx="457200" cy="457200"/>
          </a:xfrm>
          <a:prstGeom prst="ellipse">
            <a:avLst/>
          </a:prstGeom>
          <a:solidFill>
            <a:srgbClr val="2F5FFF"/>
          </a:solidFill>
        </p:spPr>
      </p:sp>
      <p:sp>
        <p:nvSpPr>
          <p:cNvPr id="14" name="Text 12"/>
          <p:cNvSpPr/>
          <p:nvPr/>
        </p:nvSpPr>
        <p:spPr>
          <a:xfrm>
            <a:off x="685800" y="412394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44168" y="4069080"/>
            <a:ext cx="51206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450" b="1" dirty="0">
                <a:solidFill>
                  <a:srgbClr val="141B2E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Reserve details</a:t>
            </a:r>
            <a:endParaRPr lang="en-US" sz="1450" dirty="0"/>
          </a:p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cart they enter name, email, phone and choose pickup or delivery (address for delivery).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85800" y="5202936"/>
            <a:ext cx="457200" cy="457200"/>
          </a:xfrm>
          <a:prstGeom prst="ellipse">
            <a:avLst/>
          </a:prstGeom>
          <a:solidFill>
            <a:srgbClr val="FCD116"/>
          </a:solidFill>
        </p:spPr>
      </p:sp>
      <p:sp>
        <p:nvSpPr>
          <p:cNvPr id="17" name="Text 15"/>
          <p:cNvSpPr/>
          <p:nvPr/>
        </p:nvSpPr>
        <p:spPr>
          <a:xfrm>
            <a:off x="685800" y="520293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44168" y="5148072"/>
            <a:ext cx="51206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450" b="1" dirty="0">
                <a:solidFill>
                  <a:srgbClr val="141B2E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Order placed</a:t>
            </a:r>
            <a:endParaRPr lang="en-US" sz="1450" dirty="0"/>
          </a:p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reservation is recorded and a confirmation email goes out; the team follows up to arrange payment.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830568" y="566928"/>
            <a:ext cx="4901184" cy="5724144"/>
          </a:xfrm>
          <a:prstGeom prst="roundRect">
            <a:avLst>
              <a:gd name="adj" fmla="val 1866"/>
            </a:avLst>
          </a:prstGeom>
          <a:solidFill>
            <a:srgbClr val="121A2E"/>
          </a:solidFill>
          <a:ln w="12700">
            <a:solidFill>
              <a:srgbClr val="2F5FFF"/>
            </a:solidFill>
            <a:prstDash val="solid"/>
          </a:ln>
          <a:effectLst>
            <a:outerShdw blurRad="127000" dist="50800" dir="54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20" name="Image 0" descr="/sessions/cool-compassionate-feynman/mnt/AlpasPinas/scratchpad/deck/05-shop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903720" y="640080"/>
            <a:ext cx="4754880" cy="557784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830568" y="6309360"/>
            <a:ext cx="490118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Gear shop — featured item + full range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766560" y="0"/>
            <a:ext cx="1097280" cy="6858000"/>
          </a:xfrm>
          <a:prstGeom prst="rect">
            <a:avLst/>
          </a:prstGeom>
          <a:solidFill>
            <a:srgbClr val="0A0E1A">
              <a:alpha val="70000"/>
            </a:srgbClr>
          </a:solidFill>
        </p:spPr>
      </p:sp>
      <p:sp>
        <p:nvSpPr>
          <p:cNvPr id="4" name="Shape 1"/>
          <p:cNvSpPr/>
          <p:nvPr/>
        </p:nvSpPr>
        <p:spPr>
          <a:xfrm>
            <a:off x="0" y="0"/>
            <a:ext cx="6766560" cy="6858000"/>
          </a:xfrm>
          <a:prstGeom prst="rect">
            <a:avLst/>
          </a:prstGeom>
          <a:solidFill>
            <a:srgbClr val="0A0E1A"/>
          </a:solidFill>
        </p:spPr>
      </p:sp>
      <p:sp>
        <p:nvSpPr>
          <p:cNvPr id="5" name="Text 2"/>
          <p:cNvSpPr/>
          <p:nvPr/>
        </p:nvSpPr>
        <p:spPr>
          <a:xfrm>
            <a:off x="777240" y="1371600"/>
            <a:ext cx="274320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2F5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02</a:t>
            </a:r>
            <a:endParaRPr lang="en-US" sz="9000" dirty="0"/>
          </a:p>
        </p:txBody>
      </p:sp>
      <p:sp>
        <p:nvSpPr>
          <p:cNvPr id="6" name="Text 3"/>
          <p:cNvSpPr/>
          <p:nvPr/>
        </p:nvSpPr>
        <p:spPr>
          <a:xfrm>
            <a:off x="822960" y="27889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CD116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PART TWO — RUNNING THE TEAM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77240" y="3063240"/>
            <a:ext cx="585216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For Admins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676656" cy="310896"/>
          </a:xfrm>
          <a:prstGeom prst="roundRect">
            <a:avLst>
              <a:gd name="adj" fmla="val 50000"/>
            </a:avLst>
          </a:prstGeom>
          <a:solidFill>
            <a:srgbClr val="CE1126"/>
          </a:solidFill>
        </p:spPr>
      </p:sp>
      <p:sp>
        <p:nvSpPr>
          <p:cNvPr id="3" name="Text 1"/>
          <p:cNvSpPr/>
          <p:nvPr/>
        </p:nvSpPr>
        <p:spPr>
          <a:xfrm>
            <a:off x="640080" y="457200"/>
            <a:ext cx="67665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ADMIN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554480" y="5120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E1126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ADMIN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2E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Training Sign-up Tracking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6400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view of every session and who's on it.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2011680"/>
            <a:ext cx="457200" cy="457200"/>
          </a:xfrm>
          <a:prstGeom prst="ellipse">
            <a:avLst/>
          </a:prstGeom>
          <a:solidFill>
            <a:srgbClr val="CE1126"/>
          </a:solidFill>
        </p:spPr>
      </p:sp>
      <p:sp>
        <p:nvSpPr>
          <p:cNvPr id="8" name="Text 6"/>
          <p:cNvSpPr/>
          <p:nvPr/>
        </p:nvSpPr>
        <p:spPr>
          <a:xfrm>
            <a:off x="685800" y="20116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44168" y="1956816"/>
            <a:ext cx="502920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450" b="1" dirty="0">
                <a:solidFill>
                  <a:srgbClr val="141B2E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See every session</a:t>
            </a:r>
            <a:endParaRPr lang="en-US" sz="1450" dirty="0"/>
          </a:p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list with date, time, location and a signed-up / capacity count.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85800" y="3063240"/>
            <a:ext cx="457200" cy="457200"/>
          </a:xfrm>
          <a:prstGeom prst="ellipse">
            <a:avLst/>
          </a:prstGeom>
          <a:solidFill>
            <a:srgbClr val="CE1126"/>
          </a:solidFill>
        </p:spPr>
      </p:sp>
      <p:sp>
        <p:nvSpPr>
          <p:cNvPr id="11" name="Text 9"/>
          <p:cNvSpPr/>
          <p:nvPr/>
        </p:nvSpPr>
        <p:spPr>
          <a:xfrm>
            <a:off x="685800" y="30632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44168" y="3008376"/>
            <a:ext cx="502920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450" b="1" dirty="0">
                <a:solidFill>
                  <a:srgbClr val="141B2E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Filter by venue</a:t>
            </a:r>
            <a:endParaRPr lang="en-US" sz="1450" dirty="0"/>
          </a:p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All / Lake / Land to focus on the right kind of session.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85800" y="4114800"/>
            <a:ext cx="457200" cy="457200"/>
          </a:xfrm>
          <a:prstGeom prst="ellipse">
            <a:avLst/>
          </a:prstGeom>
          <a:solidFill>
            <a:srgbClr val="CE1126"/>
          </a:solidFill>
        </p:spPr>
      </p:sp>
      <p:sp>
        <p:nvSpPr>
          <p:cNvPr id="14" name="Text 12"/>
          <p:cNvSpPr/>
          <p:nvPr/>
        </p:nvSpPr>
        <p:spPr>
          <a:xfrm>
            <a:off x="685800" y="41148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44168" y="4059936"/>
            <a:ext cx="502920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450" b="1" dirty="0">
                <a:solidFill>
                  <a:srgbClr val="141B2E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Expand for the roster</a:t>
            </a:r>
            <a:endParaRPr lang="en-US" sz="1450" dirty="0"/>
          </a:p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session to see confirmed paddlers and the waitlist.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85800" y="5166360"/>
            <a:ext cx="457200" cy="457200"/>
          </a:xfrm>
          <a:prstGeom prst="ellipse">
            <a:avLst/>
          </a:prstGeom>
          <a:solidFill>
            <a:srgbClr val="FCD116"/>
          </a:solidFill>
        </p:spPr>
      </p:sp>
      <p:sp>
        <p:nvSpPr>
          <p:cNvPr id="17" name="Text 15"/>
          <p:cNvSpPr/>
          <p:nvPr/>
        </p:nvSpPr>
        <p:spPr>
          <a:xfrm>
            <a:off x="685800" y="51663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44168" y="5111496"/>
            <a:ext cx="502920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450" b="1" dirty="0">
                <a:solidFill>
                  <a:srgbClr val="141B2E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Approve &amp; manage</a:t>
            </a:r>
            <a:endParaRPr lang="en-US" sz="1450" dirty="0"/>
          </a:p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waitlisted paddlers or cancel a sign-up; status pills show open / full at a glance.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373368" y="1389888"/>
            <a:ext cx="5358384" cy="3803904"/>
          </a:xfrm>
          <a:prstGeom prst="roundRect">
            <a:avLst>
              <a:gd name="adj" fmla="val 2404"/>
            </a:avLst>
          </a:prstGeom>
          <a:solidFill>
            <a:srgbClr val="121A2E"/>
          </a:solidFill>
          <a:ln w="12700">
            <a:solidFill>
              <a:srgbClr val="2F5FFF"/>
            </a:solidFill>
            <a:prstDash val="solid"/>
          </a:ln>
          <a:effectLst>
            <a:outerShdw blurRad="127000" dist="50800" dir="54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20" name="Image 0" descr="/sessions/cool-compassionate-feynman/mnt/AlpasPinas/scratchpad/deck/08-admin-signups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446520" y="1463040"/>
            <a:ext cx="5212080" cy="36576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373368" y="5212080"/>
            <a:ext cx="535838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· Training Sign-ups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676656" cy="310896"/>
          </a:xfrm>
          <a:prstGeom prst="roundRect">
            <a:avLst>
              <a:gd name="adj" fmla="val 50000"/>
            </a:avLst>
          </a:prstGeom>
          <a:solidFill>
            <a:srgbClr val="CE1126"/>
          </a:solidFill>
        </p:spPr>
      </p:sp>
      <p:sp>
        <p:nvSpPr>
          <p:cNvPr id="3" name="Text 1"/>
          <p:cNvSpPr/>
          <p:nvPr/>
        </p:nvSpPr>
        <p:spPr>
          <a:xfrm>
            <a:off x="640080" y="457200"/>
            <a:ext cx="67665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ADMIN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554480" y="5120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E1126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ADMIN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2E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Boat Assignments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6400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the crew with balance and side-matching built in.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2011680"/>
            <a:ext cx="457200" cy="457200"/>
          </a:xfrm>
          <a:prstGeom prst="ellipse">
            <a:avLst/>
          </a:prstGeom>
          <a:solidFill>
            <a:srgbClr val="CE1126"/>
          </a:solidFill>
        </p:spPr>
      </p:sp>
      <p:sp>
        <p:nvSpPr>
          <p:cNvPr id="8" name="Text 6"/>
          <p:cNvSpPr/>
          <p:nvPr/>
        </p:nvSpPr>
        <p:spPr>
          <a:xfrm>
            <a:off x="685800" y="20116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44168" y="1956816"/>
            <a:ext cx="502920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450" b="1" dirty="0">
                <a:solidFill>
                  <a:srgbClr val="141B2E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Pick session &amp; day</a:t>
            </a:r>
            <a:endParaRPr lang="en-US" sz="1450" dirty="0"/>
          </a:p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training session and day; signed-up paddlers appear in “Needs a seat”.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85800" y="3063240"/>
            <a:ext cx="457200" cy="457200"/>
          </a:xfrm>
          <a:prstGeom prst="ellipse">
            <a:avLst/>
          </a:prstGeom>
          <a:solidFill>
            <a:srgbClr val="CE1126"/>
          </a:solidFill>
        </p:spPr>
      </p:sp>
      <p:sp>
        <p:nvSpPr>
          <p:cNvPr id="11" name="Text 9"/>
          <p:cNvSpPr/>
          <p:nvPr/>
        </p:nvSpPr>
        <p:spPr>
          <a:xfrm>
            <a:off x="685800" y="30632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44168" y="3008376"/>
            <a:ext cx="502920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450" b="1" dirty="0">
                <a:solidFill>
                  <a:srgbClr val="141B2E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Seat the paddlers</a:t>
            </a:r>
            <a:endParaRPr lang="en-US" sz="1450" dirty="0"/>
          </a:p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paddlers onto left/right seats, drummer and steers — or tap a seat to fill it.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85800" y="4114800"/>
            <a:ext cx="457200" cy="457200"/>
          </a:xfrm>
          <a:prstGeom prst="ellipse">
            <a:avLst/>
          </a:prstGeom>
          <a:solidFill>
            <a:srgbClr val="CE1126"/>
          </a:solidFill>
        </p:spPr>
      </p:sp>
      <p:sp>
        <p:nvSpPr>
          <p:cNvPr id="14" name="Text 12"/>
          <p:cNvSpPr/>
          <p:nvPr/>
        </p:nvSpPr>
        <p:spPr>
          <a:xfrm>
            <a:off x="685800" y="41148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44168" y="4059936"/>
            <a:ext cx="502920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450" b="1" dirty="0">
                <a:solidFill>
                  <a:srgbClr val="141B2E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Watch trim &amp; balance</a:t>
            </a:r>
            <a:endParaRPr lang="en-US" sz="1450" dirty="0"/>
          </a:p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left/right and bow/stern weight balance, gender mix and seat counts update as you go.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85800" y="5166360"/>
            <a:ext cx="457200" cy="457200"/>
          </a:xfrm>
          <a:prstGeom prst="ellipse">
            <a:avLst/>
          </a:prstGeom>
          <a:solidFill>
            <a:srgbClr val="FCD116"/>
          </a:solidFill>
        </p:spPr>
      </p:sp>
      <p:sp>
        <p:nvSpPr>
          <p:cNvPr id="17" name="Text 15"/>
          <p:cNvSpPr/>
          <p:nvPr/>
        </p:nvSpPr>
        <p:spPr>
          <a:xfrm>
            <a:off x="685800" y="51663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44168" y="5111496"/>
            <a:ext cx="502920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450" b="1" dirty="0">
                <a:solidFill>
                  <a:srgbClr val="141B2E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Auto-seat, presets &amp; share</a:t>
            </a:r>
            <a:endParaRPr lang="en-US" sz="1450" dirty="0"/>
          </a:p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auto-seat, crew presets (mixed, masters…), then share or print the line-up.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373368" y="978408"/>
            <a:ext cx="5358384" cy="4535424"/>
          </a:xfrm>
          <a:prstGeom prst="roundRect">
            <a:avLst>
              <a:gd name="adj" fmla="val 2016"/>
            </a:avLst>
          </a:prstGeom>
          <a:solidFill>
            <a:srgbClr val="121A2E"/>
          </a:solidFill>
          <a:ln w="12700">
            <a:solidFill>
              <a:srgbClr val="2F5FFF"/>
            </a:solidFill>
            <a:prstDash val="solid"/>
          </a:ln>
          <a:effectLst>
            <a:outerShdw blurRad="127000" dist="50800" dir="54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20" name="Image 0" descr="/sessions/cool-compassionate-feynman/mnt/AlpasPinas/scratchpad/deck/09-admin-boats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446520" y="1051560"/>
            <a:ext cx="5212080" cy="438912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373368" y="5532120"/>
            <a:ext cx="535838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· the drag-and-drop boat planner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676656" cy="310896"/>
          </a:xfrm>
          <a:prstGeom prst="roundRect">
            <a:avLst>
              <a:gd name="adj" fmla="val 50000"/>
            </a:avLst>
          </a:prstGeom>
          <a:solidFill>
            <a:srgbClr val="CE1126"/>
          </a:solidFill>
        </p:spPr>
      </p:sp>
      <p:sp>
        <p:nvSpPr>
          <p:cNvPr id="3" name="Text 1"/>
          <p:cNvSpPr/>
          <p:nvPr/>
        </p:nvSpPr>
        <p:spPr>
          <a:xfrm>
            <a:off x="640080" y="457200"/>
            <a:ext cx="67665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ADMIN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554480" y="5120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E1126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ADMIN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2E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Merchandise Management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connected halves: the catalogue, and the orders it generates.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516636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9AA7C7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60120" y="228600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2F5FFF"/>
          </a:solidFill>
        </p:spPr>
      </p:sp>
      <p:sp>
        <p:nvSpPr>
          <p:cNvPr id="9" name="Text 7"/>
          <p:cNvSpPr/>
          <p:nvPr/>
        </p:nvSpPr>
        <p:spPr>
          <a:xfrm>
            <a:off x="960120" y="228600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P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783080" y="2331720"/>
            <a:ext cx="3840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1B2E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Shop Products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24128" y="3346704"/>
            <a:ext cx="146304" cy="146304"/>
          </a:xfrm>
          <a:prstGeom prst="ellipse">
            <a:avLst/>
          </a:prstGeom>
          <a:solidFill>
            <a:srgbClr val="2F5FFF"/>
          </a:solidFill>
        </p:spPr>
      </p:sp>
      <p:sp>
        <p:nvSpPr>
          <p:cNvPr id="12" name="Text 10"/>
          <p:cNvSpPr/>
          <p:nvPr/>
        </p:nvSpPr>
        <p:spPr>
          <a:xfrm>
            <a:off x="1353312" y="3209544"/>
            <a:ext cx="420624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edit and remove products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24128" y="4059936"/>
            <a:ext cx="146304" cy="146304"/>
          </a:xfrm>
          <a:prstGeom prst="ellipse">
            <a:avLst/>
          </a:prstGeom>
          <a:solidFill>
            <a:srgbClr val="2F5FFF"/>
          </a:solidFill>
        </p:spPr>
      </p:sp>
      <p:sp>
        <p:nvSpPr>
          <p:cNvPr id="14" name="Text 12"/>
          <p:cNvSpPr/>
          <p:nvPr/>
        </p:nvSpPr>
        <p:spPr>
          <a:xfrm>
            <a:off x="1353312" y="3922776"/>
            <a:ext cx="420624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price, promo price &amp; “limited drop” label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24128" y="4773168"/>
            <a:ext cx="146304" cy="146304"/>
          </a:xfrm>
          <a:prstGeom prst="ellipse">
            <a:avLst/>
          </a:prstGeom>
          <a:solidFill>
            <a:srgbClr val="2F5FFF"/>
          </a:solidFill>
        </p:spPr>
      </p:sp>
      <p:sp>
        <p:nvSpPr>
          <p:cNvPr id="16" name="Text 14"/>
          <p:cNvSpPr/>
          <p:nvPr/>
        </p:nvSpPr>
        <p:spPr>
          <a:xfrm>
            <a:off x="1353312" y="4636008"/>
            <a:ext cx="420624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sizes, stock, images &amp; category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24128" y="5486400"/>
            <a:ext cx="146304" cy="146304"/>
          </a:xfrm>
          <a:prstGeom prst="ellipse">
            <a:avLst/>
          </a:prstGeom>
          <a:solidFill>
            <a:srgbClr val="2F5FFF"/>
          </a:solidFill>
        </p:spPr>
      </p:sp>
      <p:sp>
        <p:nvSpPr>
          <p:cNvPr id="18" name="Text 16"/>
          <p:cNvSpPr/>
          <p:nvPr/>
        </p:nvSpPr>
        <p:spPr>
          <a:xfrm>
            <a:off x="1353312" y="5349240"/>
            <a:ext cx="420624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the one featured item for the homepage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55080" y="1965960"/>
            <a:ext cx="516636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9AA7C7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75120" y="228600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CE1126"/>
          </a:solidFill>
        </p:spPr>
      </p:sp>
      <p:sp>
        <p:nvSpPr>
          <p:cNvPr id="21" name="Text 19"/>
          <p:cNvSpPr/>
          <p:nvPr/>
        </p:nvSpPr>
        <p:spPr>
          <a:xfrm>
            <a:off x="6675120" y="228600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O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498080" y="2331720"/>
            <a:ext cx="3840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1B2E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Shop Orders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739128" y="3346704"/>
            <a:ext cx="146304" cy="146304"/>
          </a:xfrm>
          <a:prstGeom prst="ellipse">
            <a:avLst/>
          </a:prstGeom>
          <a:solidFill>
            <a:srgbClr val="CE1126"/>
          </a:solidFill>
        </p:spPr>
      </p:sp>
      <p:sp>
        <p:nvSpPr>
          <p:cNvPr id="24" name="Text 22"/>
          <p:cNvSpPr/>
          <p:nvPr/>
        </p:nvSpPr>
        <p:spPr>
          <a:xfrm>
            <a:off x="7068312" y="3209544"/>
            <a:ext cx="420624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every reserve/inquiry order come in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739128" y="4059936"/>
            <a:ext cx="146304" cy="146304"/>
          </a:xfrm>
          <a:prstGeom prst="ellipse">
            <a:avLst/>
          </a:prstGeom>
          <a:solidFill>
            <a:srgbClr val="CE1126"/>
          </a:solidFill>
        </p:spPr>
      </p:sp>
      <p:sp>
        <p:nvSpPr>
          <p:cNvPr id="26" name="Text 24"/>
          <p:cNvSpPr/>
          <p:nvPr/>
        </p:nvSpPr>
        <p:spPr>
          <a:xfrm>
            <a:off x="7068312" y="3922776"/>
            <a:ext cx="420624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each through Reserved → Paid → Fulfilled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739128" y="4773168"/>
            <a:ext cx="146304" cy="146304"/>
          </a:xfrm>
          <a:prstGeom prst="ellipse">
            <a:avLst/>
          </a:prstGeom>
          <a:solidFill>
            <a:srgbClr val="CE1126"/>
          </a:solidFill>
        </p:spPr>
      </p:sp>
      <p:sp>
        <p:nvSpPr>
          <p:cNvPr id="28" name="Text 26"/>
          <p:cNvSpPr/>
          <p:nvPr/>
        </p:nvSpPr>
        <p:spPr>
          <a:xfrm>
            <a:off x="7068312" y="4636008"/>
            <a:ext cx="420624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an estimated delivery date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739128" y="5486400"/>
            <a:ext cx="146304" cy="146304"/>
          </a:xfrm>
          <a:prstGeom prst="ellipse">
            <a:avLst/>
          </a:prstGeom>
          <a:solidFill>
            <a:srgbClr val="CE1126"/>
          </a:solidFill>
        </p:spPr>
      </p:sp>
      <p:sp>
        <p:nvSpPr>
          <p:cNvPr id="30" name="Text 28"/>
          <p:cNvSpPr/>
          <p:nvPr/>
        </p:nvSpPr>
        <p:spPr>
          <a:xfrm>
            <a:off x="7068312" y="5349240"/>
            <a:ext cx="420624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orders auto-archive after 30 days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0080" y="6355080"/>
            <a:ext cx="10972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orders from the member shop land directly in Shop Orders for the team to fulfil.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ool-compassionate-feynman/mnt/AlpasPinas/scratchpad/deck/01-home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>
              <a:alpha val="80000"/>
            </a:srgbClr>
          </a:solidFill>
        </p:spPr>
      </p:sp>
      <p:sp>
        <p:nvSpPr>
          <p:cNvPr id="4" name="Text 1"/>
          <p:cNvSpPr/>
          <p:nvPr/>
        </p:nvSpPr>
        <p:spPr>
          <a:xfrm>
            <a:off x="914400" y="2468880"/>
            <a:ext cx="1033272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One portal, six journeys, one crew.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914400" y="3566160"/>
            <a:ext cx="10332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6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join, train and gear up · Admins track, seat and fulfil.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572000" y="4480560"/>
            <a:ext cx="2022653" cy="310896"/>
          </a:xfrm>
          <a:prstGeom prst="roundRect">
            <a:avLst>
              <a:gd name="adj" fmla="val 50000"/>
            </a:avLst>
          </a:prstGeom>
          <a:solidFill>
            <a:srgbClr val="FCD116"/>
          </a:solidFill>
        </p:spPr>
      </p:sp>
      <p:sp>
        <p:nvSpPr>
          <p:cNvPr id="7" name="Text 4"/>
          <p:cNvSpPr/>
          <p:nvPr/>
        </p:nvSpPr>
        <p:spPr>
          <a:xfrm>
            <a:off x="4572000" y="4480560"/>
            <a:ext cx="2022653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1B2E"/>
                </a:solidFill>
                <a:latin typeface="Arial" panose="020B0704020202020204" pitchFamily="34" charset="0"/>
                <a:ea typeface="Arial" panose="020B0704020202020204" pitchFamily="34" charset="-122"/>
                <a:cs typeface="Arial" panose="020B0704020202020204" pitchFamily="34" charset="-120"/>
              </a:rPr>
              <a:t>ALPASPINAS · MALAYSIA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4001</Words>
  <Application>WPS Presentation</Application>
  <PresentationFormat>On-screen Show (16:9)</PresentationFormat>
  <Paragraphs>256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5" baseType="lpstr">
      <vt:lpstr>Arial</vt:lpstr>
      <vt:lpstr>SimSun</vt:lpstr>
      <vt:lpstr>Wingdings</vt:lpstr>
      <vt:lpstr>Arial</vt:lpstr>
      <vt:lpstr>Arial</vt:lpstr>
      <vt:lpstr>Calibri</vt:lpstr>
      <vt:lpstr>Helvetica Neue</vt:lpstr>
      <vt:lpstr>Calibri</vt:lpstr>
      <vt:lpstr>Calibri</vt:lpstr>
      <vt:lpstr>Microsoft YaHei</vt:lpstr>
      <vt:lpstr>汉仪旗黑</vt:lpstr>
      <vt:lpstr>Arial Unicode MS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jc-mac</cp:lastModifiedBy>
  <cp:revision>2</cp:revision>
  <dcterms:created xsi:type="dcterms:W3CDTF">2026-07-27T10:55:01Z</dcterms:created>
  <dcterms:modified xsi:type="dcterms:W3CDTF">2026-07-27T10:55:01Z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985E266730E7D1600539676A5C435A3D_42</vt:lpwstr>
  </property>
  <property fmtid="{D5CDD505-2E9C-101B-9397-08002B2CF9AE}" pid="3" name="KSOProductBuildVer">
    <vt:lpwstr>1033-12.1.26035.26035</vt:lpwstr>
  </property>
</Properties>
</file>